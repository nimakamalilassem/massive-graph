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09CA66-602B-4E25-AE07-A997CAF519F7}">
  <a:tblStyle styleId="{B009CA66-602B-4E25-AE07-A997CAF519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ab6ec4f0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cab6ec4f0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ab6ec4f09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6b1cb2dae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86b1cb2da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86b1cb2da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ab6ec4f09_2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cab6ec4f09_2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cab6ec4f09_2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86b1cb2dae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86b1cb2dae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86b1cb2dae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6b1cb2dae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86b1cb2dae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86b1cb2dae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86b1cb2dae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86b1cb2dae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86b1cb2dae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cab6ec4f0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cab6ec4f0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cab6ec4f0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ab6ec4f09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ab6ec4f09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cab6ec4f09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6b1cb2dae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86b1cb2dae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86b1cb2dae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cab6ec4f0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cab6ec4f0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cab6ec4f0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ab6ec4f09_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cab6ec4f09_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cab6ec4f09_2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pykeen/pykee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pykeen/pykee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flipH="1" rot="10800000">
            <a:off x="6858000" y="274320"/>
            <a:ext cx="1188720" cy="18288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8046720" y="274320"/>
            <a:ext cx="365760" cy="73152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7315200" y="1005840"/>
            <a:ext cx="1097280" cy="36576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6858000" y="457200"/>
            <a:ext cx="457200" cy="91440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6583680" y="457200"/>
            <a:ext cx="274320" cy="64008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rot="10800000">
            <a:off x="6583680" y="1097280"/>
            <a:ext cx="731520" cy="274320"/>
          </a:xfrm>
          <a:prstGeom prst="straightConnector1">
            <a:avLst/>
          </a:prstGeom>
          <a:noFill/>
          <a:ln cap="flat" cmpd="sng" w="1905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784848" y="38404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973568" y="20116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339328" y="932688"/>
            <a:ext cx="146304" cy="146304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242048" y="129844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510528" y="102412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Graph Embeddings and GNN-Based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Community Detection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in Social and Computer Networks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Nima Kamali Lassem  ·  Nicola Mambelli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February 2026  ·  CentraleSupélec / Paris-Saclay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Knowledge Graph Fundamentals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Core Concepts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" y="141732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Nodes (Entities)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Represent real-world objects: users, hosts, devices. Each node can have attributes (features).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Edges (Relationships)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Connections between nodes. Can be directed (client→server) or undirected (friendship). Can carry types and weights.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Triples (h, r, 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fundamental unit of a knowledge graph: (head, relation, tail). E.g., (User₁, friend, User₂) or (Host₅, port80, Host₁₂).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Community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Groups of densely connected nodes. Reflects functional roles, social groups, or organizational 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0" y="1005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Triple Representation: (h, r, 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0" y="164592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303520" y="16459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4"/>
          <p:cNvCxnSpPr/>
          <p:nvPr/>
        </p:nvCxnSpPr>
        <p:spPr>
          <a:xfrm>
            <a:off x="6355080" y="2148840"/>
            <a:ext cx="1188720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4"/>
          <p:cNvSpPr/>
          <p:nvPr/>
        </p:nvSpPr>
        <p:spPr>
          <a:xfrm>
            <a:off x="7406640" y="20574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0" y="1828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friend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498080" y="1645920"/>
            <a:ext cx="1005840" cy="1005840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498080" y="16459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(tail)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303520" y="30175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303520" y="30175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4"/>
          <p:cNvCxnSpPr/>
          <p:nvPr/>
        </p:nvCxnSpPr>
        <p:spPr>
          <a:xfrm>
            <a:off x="6355080" y="3520440"/>
            <a:ext cx="1188720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4"/>
          <p:cNvSpPr/>
          <p:nvPr/>
        </p:nvSpPr>
        <p:spPr>
          <a:xfrm>
            <a:off x="7406640" y="34290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400800" y="32004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port80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498080" y="3017520"/>
            <a:ext cx="1005840" cy="1005840"/>
          </a:xfrm>
          <a:prstGeom prst="ellipse">
            <a:avLst/>
          </a:prstGeom>
          <a:solidFill>
            <a:srgbClr val="6366F1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498080" y="30175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Host₁₂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(tail)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29200" y="26974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Undirected (symmetric)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029200" y="4069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Directed (asymmetric)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/>
        </p:nvSpPr>
        <p:spPr>
          <a:xfrm>
            <a:off x="5220775" y="4424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Description: N</a:t>
            </a:r>
            <a:r>
              <a:rPr lang="en-US" sz="600">
                <a:solidFill>
                  <a:schemeClr val="dk1"/>
                </a:solidFill>
              </a:rPr>
              <a:t>etwork of 52 hosts representing communication traffic between devices, where edges capture port/protocol interactions reflecting functional roles.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Two Contrasting Datasets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914400"/>
            <a:ext cx="3931800" cy="326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40080" y="9144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LastFM Asia Social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75" y="1463048"/>
            <a:ext cx="3566100" cy="2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7,624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(music users from 18 Asian countries)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27,806 undirected 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(friendships — 1 relation type, 100% symmetric)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Rich node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(7,842 binary artist preferences → 128-dim SVD)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Density: 0.096%  ·  Sparse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Ground truth: 18 country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 imbalance: 98:1 ratio (largest vs smallest)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75" y="914400"/>
            <a:ext cx="3931800" cy="326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937760" y="9144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Cisco g21 Network Traffic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937750" y="1463048"/>
            <a:ext cx="3566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52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(network hosts with functional roles)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Directed edges, 2,157 relation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(port/protocol combos — 94.2% asymmetric)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native node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(engineered from port usage patterns)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Density: 96% raw → 51% filtered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Ground truth: 23 functional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(verified by actual host function)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923163" y="4397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Description: </a:t>
            </a:r>
            <a:r>
              <a:rPr lang="en-US" sz="600">
                <a:solidFill>
                  <a:schemeClr val="dk1"/>
                </a:solidFill>
              </a:rPr>
              <a:t>Social network of Last.fm users from 18 Asian countries, with friendships as edges and music listening preferences as node attributes.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Characterization: Properties That Determine Model Choice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10_img2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66734" t="0"/>
          <a:stretch/>
        </p:blipFill>
        <p:spPr>
          <a:xfrm>
            <a:off x="2652788" y="866725"/>
            <a:ext cx="3838427" cy="33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this matters: Symmetry, density, and relation count directly predict which models will succeed or fail.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0" y="54864"/>
            <a:ext cx="9144000" cy="64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40080" y="54864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Characterization: Properties That Determine Model Choice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4434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this matters: Symmetry, density, and relation count directly predict which models will succeed or fail.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42561" l="50019" r="0" t="4249"/>
          <a:stretch/>
        </p:blipFill>
        <p:spPr>
          <a:xfrm>
            <a:off x="640075" y="1071800"/>
            <a:ext cx="4009501" cy="2929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images/nb_Presentation_cell10_img2.png"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68617" r="0" t="0"/>
          <a:stretch/>
        </p:blipFill>
        <p:spPr>
          <a:xfrm>
            <a:off x="4649574" y="1071800"/>
            <a:ext cx="3123658" cy="292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 of Previous Work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Part 1: Classical Community Detection  ·  Part 2 (early): Spectral Clustering &amp; Node2Vec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Brief recap — these methods set the baseline for the main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Part 1: Classical Community Detection — Baselines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45720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LastFM (Undirected, No Ground Truth)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Cisco g21 (Directed, With Ground Truth)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9"/>
          <p:cNvGraphicFramePr/>
          <p:nvPr/>
        </p:nvGraphicFramePr>
        <p:xfrm>
          <a:off x="47548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287525"/>
                <a:gridCol w="984575"/>
                <a:gridCol w="984575"/>
                <a:gridCol w="10675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Jaccard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NMI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</a:rPr>
                        <a:t>Communities</a:t>
                      </a:r>
                      <a:endParaRPr b="1" sz="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Louvain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5CF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8B5CF6"/>
                          </a:solidFill>
                        </a:rPr>
                        <a:t>0.531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0.165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Girvan-Newman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0.322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5CF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8B5CF6"/>
                          </a:solidFill>
                        </a:rPr>
                        <a:t>0.296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9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Label Propagat</a:t>
                      </a:r>
                      <a:r>
                        <a:rPr lang="en-US" sz="900"/>
                        <a:t>ion</a:t>
                      </a: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0.077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EF4444"/>
                          </a:solidFill>
                        </a:rPr>
                        <a:t>0.000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9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Key insight: Louvain is our strongest baseline. Dense networks (Cisco) cause Label Propagation and Infomap to collapse into a single community.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12_img3.png"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200400"/>
            <a:ext cx="4572000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images/nb_Presentation_cell14_img5.png"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3200400"/>
            <a:ext cx="4572000" cy="17373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9"/>
          <p:cNvGraphicFramePr/>
          <p:nvPr/>
        </p:nvGraphicFramePr>
        <p:xfrm>
          <a:off x="147875" y="1203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382625"/>
                <a:gridCol w="909525"/>
                <a:gridCol w="1049950"/>
                <a:gridCol w="10265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Modularity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Conductance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</a:rPr>
                        <a:t>Communities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Louvain ✓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0.815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0.135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Label Propagation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0.752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0.435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650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Greedy Modularity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0.796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0.163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43</a:t>
                      </a:r>
                      <a:endParaRPr sz="1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Spectral Clustering: Eigenvalues of the Graph Laplacian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365760" y="868680"/>
            <a:ext cx="29260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48640" y="914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40080" y="1280160"/>
            <a:ext cx="23774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40080" y="12801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Adjacency Matrix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0"/>
          <p:cNvCxnSpPr/>
          <p:nvPr/>
        </p:nvCxnSpPr>
        <p:spPr>
          <a:xfrm>
            <a:off x="1819656" y="166420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0"/>
          <p:cNvSpPr/>
          <p:nvPr/>
        </p:nvSpPr>
        <p:spPr>
          <a:xfrm>
            <a:off x="1691640" y="171907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40080" y="1828800"/>
            <a:ext cx="23774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40080" y="1828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Normalized Laplacian L_sym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0"/>
          <p:cNvCxnSpPr/>
          <p:nvPr/>
        </p:nvCxnSpPr>
        <p:spPr>
          <a:xfrm>
            <a:off x="1819656" y="221284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0"/>
          <p:cNvSpPr/>
          <p:nvPr/>
        </p:nvSpPr>
        <p:spPr>
          <a:xfrm>
            <a:off x="1691640" y="226771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40080" y="2377440"/>
            <a:ext cx="23774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640080" y="23774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smallest eigenvectors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0"/>
          <p:cNvCxnSpPr/>
          <p:nvPr/>
        </p:nvCxnSpPr>
        <p:spPr>
          <a:xfrm>
            <a:off x="1819656" y="276148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0"/>
          <p:cNvSpPr/>
          <p:nvPr/>
        </p:nvSpPr>
        <p:spPr>
          <a:xfrm>
            <a:off x="1691640" y="28163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40080" y="2926080"/>
            <a:ext cx="23774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640080" y="29260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on eigenvectors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0"/>
          <p:cNvCxnSpPr/>
          <p:nvPr/>
        </p:nvCxnSpPr>
        <p:spPr>
          <a:xfrm>
            <a:off x="1819656" y="3310128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0"/>
          <p:cNvSpPr/>
          <p:nvPr/>
        </p:nvSpPr>
        <p:spPr>
          <a:xfrm>
            <a:off x="1691640" y="336499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640080" y="3474720"/>
            <a:ext cx="2377440" cy="38404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640080" y="34747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Assignments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L_sym = D^(-1/2) L D^(-1/2)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Eigengap heuristic selects 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3566160" y="86868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3749040" y="914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0"/>
          <p:cNvGraphicFramePr/>
          <p:nvPr/>
        </p:nvGraphicFramePr>
        <p:xfrm>
          <a:off x="37490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005850"/>
                <a:gridCol w="548650"/>
                <a:gridCol w="822950"/>
                <a:gridCol w="822950"/>
                <a:gridCol w="822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NMI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ARI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LastFM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0.799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0.659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0.671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Cisco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0.205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5CF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B5CF6"/>
                          </a:solidFill>
                        </a:rPr>
                        <a:t>0.863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0.496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0"/>
          <p:cNvSpPr/>
          <p:nvPr/>
        </p:nvSpPr>
        <p:spPr>
          <a:xfrm>
            <a:off x="3749040" y="2103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Cisco achieves NMI=0.863 despite low modularity — functional groups aren't dense subgraphs.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16_img9.png"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2743200"/>
            <a:ext cx="53035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54864"/>
            <a:ext cx="9144000" cy="64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40080" y="54864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Node2Vec: Biased Random Walks → Shallow Embeddings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65760" y="868680"/>
            <a:ext cx="29262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548640" y="91440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40080" y="1234440"/>
            <a:ext cx="2377500" cy="384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640080" y="123444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1"/>
          <p:cNvCxnSpPr/>
          <p:nvPr/>
        </p:nvCxnSpPr>
        <p:spPr>
          <a:xfrm>
            <a:off x="1819656" y="1618488"/>
            <a:ext cx="0" cy="146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1"/>
          <p:cNvSpPr/>
          <p:nvPr/>
        </p:nvSpPr>
        <p:spPr>
          <a:xfrm>
            <a:off x="1691640" y="1655064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40080" y="1764792"/>
            <a:ext cx="2377500" cy="502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40080" y="176479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Biased Random Walks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p, q control BFS vs DFS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1"/>
          <p:cNvCxnSpPr/>
          <p:nvPr/>
        </p:nvCxnSpPr>
        <p:spPr>
          <a:xfrm>
            <a:off x="1819656" y="2267712"/>
            <a:ext cx="0" cy="155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1"/>
          <p:cNvSpPr/>
          <p:nvPr/>
        </p:nvSpPr>
        <p:spPr>
          <a:xfrm>
            <a:off x="1691640" y="2313432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0080" y="2423160"/>
            <a:ext cx="2377500" cy="384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640080" y="242316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Word2Vec (Skip-gram)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1"/>
          <p:cNvCxnSpPr/>
          <p:nvPr/>
        </p:nvCxnSpPr>
        <p:spPr>
          <a:xfrm>
            <a:off x="1819656" y="2807208"/>
            <a:ext cx="0" cy="146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1"/>
          <p:cNvSpPr/>
          <p:nvPr/>
        </p:nvSpPr>
        <p:spPr>
          <a:xfrm>
            <a:off x="1691640" y="2843784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40080" y="2953512"/>
            <a:ext cx="2377500" cy="5028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640080" y="295351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K-Means → Communities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57200" y="3507538"/>
            <a:ext cx="2743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BFS (p=1, q=2):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local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DFS (p=2, q=0.5):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global homophily</a:t>
            </a:r>
            <a:endParaRPr b="0" i="0" sz="100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num_walk LastFM</a:t>
            </a:r>
            <a:r>
              <a:rPr b="1" lang="en-U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(Original Paper)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num_walk Cisco: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 (more sparse) (low for W2V)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566160" y="868680"/>
            <a:ext cx="53034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3749040" y="91440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LastFM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1"/>
          <p:cNvGraphicFramePr/>
          <p:nvPr/>
        </p:nvGraphicFramePr>
        <p:xfrm>
          <a:off x="37490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463050"/>
                <a:gridCol w="914400"/>
                <a:gridCol w="914400"/>
                <a:gridCol w="914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Config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NMI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ARI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BFS (p=1, q=2)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0.778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0.623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0.533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DFS (p=2, q=0.5)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0.804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0.635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0.561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11"/>
          <p:cNvSpPr/>
          <p:nvPr/>
        </p:nvSpPr>
        <p:spPr>
          <a:xfrm>
            <a:off x="3749040" y="201168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DFS &gt; BFS: global structure captures more community signal. Neither beats Louvain on modularity or spectral on NMI. Cisco: poor (too dense for random walks).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649" y="2361225"/>
            <a:ext cx="3433750" cy="264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365750" y="4330300"/>
            <a:ext cx="29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</a:rPr>
              <a:t>t‑SNE stands for </a:t>
            </a:r>
            <a:r>
              <a:rPr b="1" lang="en-US" sz="800">
                <a:solidFill>
                  <a:srgbClr val="64748B"/>
                </a:solidFill>
              </a:rPr>
              <a:t>t</a:t>
            </a:r>
            <a:r>
              <a:rPr lang="en-US" sz="800">
                <a:solidFill>
                  <a:srgbClr val="64748B"/>
                </a:solidFill>
              </a:rPr>
              <a:t>‑distributed Stochastic Neighbor Embedding, a nonlinear dimensionality reduction method mainly used for visualization, not for downstream modeling.</a:t>
            </a:r>
            <a:endParaRPr sz="11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Main Contributions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GCN  ·  Link Prediction  ·  Knowledge Graph Embeddings  ·  Transfer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core of our work: deep learning and knowledge graph embedding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GCN for Node Classification: Theory &amp;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365760" y="868680"/>
            <a:ext cx="4754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548640" y="9144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Why GCN?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48640" y="1234440"/>
            <a:ext cx="43891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Only method that uses both graph structure AND node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Message passing: each node aggregates neighbor information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H' = Â · H · 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Â = D̃^(-1/2) Ã D̃^(-1/2)  (normalized adjacency)</a:t>
            </a:r>
            <a:b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Architecture: 2 GCN layers (128→64→18 classes)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Trained with cross-entropy on 70% labeled nodes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303520" y="868680"/>
            <a:ext cx="3566160" cy="397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t/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Node Classification Pipeline(</a:t>
            </a:r>
            <a:r>
              <a:rPr b="1" lang="en-US" sz="12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LastFM)</a:t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t/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5669280" y="1280160"/>
            <a:ext cx="283464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5669280" y="1280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Features (128-dim SVD)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3"/>
          <p:cNvCxnSpPr/>
          <p:nvPr/>
        </p:nvCxnSpPr>
        <p:spPr>
          <a:xfrm>
            <a:off x="7077456" y="1627632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3"/>
          <p:cNvSpPr/>
          <p:nvPr/>
        </p:nvSpPr>
        <p:spPr>
          <a:xfrm>
            <a:off x="6949440" y="165506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5669280" y="1764792"/>
            <a:ext cx="283464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5669280" y="176479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Normalized Adjacency 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3"/>
          <p:cNvCxnSpPr/>
          <p:nvPr/>
        </p:nvCxnSpPr>
        <p:spPr>
          <a:xfrm>
            <a:off x="7077456" y="2112264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3"/>
          <p:cNvSpPr/>
          <p:nvPr/>
        </p:nvSpPr>
        <p:spPr>
          <a:xfrm>
            <a:off x="6949440" y="213969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5669280" y="2249424"/>
            <a:ext cx="2834640" cy="39319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5669280" y="2249424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 Layer 1: 128 → 64 + 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13"/>
          <p:cNvCxnSpPr/>
          <p:nvPr/>
        </p:nvCxnSpPr>
        <p:spPr>
          <a:xfrm>
            <a:off x="7077456" y="2642616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3"/>
          <p:cNvSpPr/>
          <p:nvPr/>
        </p:nvSpPr>
        <p:spPr>
          <a:xfrm>
            <a:off x="6949440" y="26700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5669280" y="2779776"/>
            <a:ext cx="2834640" cy="39319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5669280" y="2779776"/>
            <a:ext cx="2834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 Layer 2: 64 → 18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3"/>
          <p:cNvCxnSpPr/>
          <p:nvPr/>
        </p:nvCxnSpPr>
        <p:spPr>
          <a:xfrm>
            <a:off x="7077456" y="3172968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3"/>
          <p:cNvSpPr/>
          <p:nvPr/>
        </p:nvSpPr>
        <p:spPr>
          <a:xfrm>
            <a:off x="6949440" y="32004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669280" y="3310128"/>
            <a:ext cx="283464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5669280" y="331012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 → Cross-Entropy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3"/>
          <p:cNvCxnSpPr/>
          <p:nvPr/>
        </p:nvCxnSpPr>
        <p:spPr>
          <a:xfrm>
            <a:off x="7077456" y="365760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3"/>
          <p:cNvSpPr/>
          <p:nvPr/>
        </p:nvSpPr>
        <p:spPr>
          <a:xfrm>
            <a:off x="6949440" y="368503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5669280" y="3794760"/>
            <a:ext cx="2834640" cy="347472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5669280" y="3794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Country Prediction (18 labels)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65760" y="3154680"/>
            <a:ext cx="47548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548640" y="32004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What makes GCN different from previous methods?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3"/>
          <p:cNvGraphicFramePr/>
          <p:nvPr/>
        </p:nvGraphicFramePr>
        <p:xfrm>
          <a:off x="54864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097275"/>
                <a:gridCol w="914400"/>
                <a:gridCol w="914400"/>
                <a:gridCol w="914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Learned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Spectral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EF4444"/>
                          </a:solidFill>
                        </a:rPr>
                        <a:t>✗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EF4444"/>
                          </a:solidFill>
                        </a:rPr>
                        <a:t>✗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Node2Vec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EF4444"/>
                          </a:solidFill>
                        </a:rPr>
                        <a:t>✗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GCN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✓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GCN Results: Training &amp; Embeddings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23_img14.png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822960"/>
            <a:ext cx="457200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/>
          <p:nvPr/>
        </p:nvSpPr>
        <p:spPr>
          <a:xfrm>
            <a:off x="4937760" y="822960"/>
            <a:ext cx="39319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5120640" y="8686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LastFM Test Accuracy: </a:t>
            </a:r>
            <a:r>
              <a:rPr b="1" i="0" lang="en-US" sz="22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89.4%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5120640" y="128016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Cisco Test Accuracy: </a:t>
            </a:r>
            <a:r>
              <a:rPr b="1" i="0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20.0%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25_img15.png" id="250" name="Google Shape;2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" y="2834640"/>
            <a:ext cx="59436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/>
          <p:nvPr/>
        </p:nvSpPr>
        <p:spPr>
          <a:xfrm>
            <a:off x="6309360" y="283464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6492240" y="292608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Cisco: Port-based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Binary vector of port usage patterns — web servers on 80/443, DNS on 53, etc.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Only 52 nodes → higher variance, smaller hidden dim (32 vs 64)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20% accuracy with high variance reflects extreme difficulty: 23 classes, ~2 nodes/class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Link Prediction with GNN: Pipeline (LastFM)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457200" y="1051560"/>
            <a:ext cx="192024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457200" y="10515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7,624 nodes, 27,806 edges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5"/>
          <p:cNvCxnSpPr/>
          <p:nvPr/>
        </p:nvCxnSpPr>
        <p:spPr>
          <a:xfrm>
            <a:off x="2423160" y="1325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5"/>
          <p:cNvSpPr/>
          <p:nvPr/>
        </p:nvSpPr>
        <p:spPr>
          <a:xfrm>
            <a:off x="2587752" y="12344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2697480" y="1051560"/>
            <a:ext cx="192024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2697480" y="10515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85% train / 5% val / 10%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5"/>
          <p:cNvCxnSpPr/>
          <p:nvPr/>
        </p:nvCxnSpPr>
        <p:spPr>
          <a:xfrm>
            <a:off x="4663440" y="1325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5"/>
          <p:cNvSpPr/>
          <p:nvPr/>
        </p:nvSpPr>
        <p:spPr>
          <a:xfrm>
            <a:off x="4828032" y="12344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4937760" y="1051560"/>
            <a:ext cx="192024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4937760" y="10515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Negative 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1:1 pos/neg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5"/>
          <p:cNvCxnSpPr/>
          <p:nvPr/>
        </p:nvCxnSpPr>
        <p:spPr>
          <a:xfrm>
            <a:off x="6903720" y="1325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5"/>
          <p:cNvSpPr/>
          <p:nvPr/>
        </p:nvSpPr>
        <p:spPr>
          <a:xfrm>
            <a:off x="7068312" y="12344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7178040" y="1051560"/>
            <a:ext cx="1554480" cy="54864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7178040" y="105156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457200" y="1874520"/>
            <a:ext cx="192024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457200" y="18745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SVD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(128-dim per node)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5"/>
          <p:cNvCxnSpPr/>
          <p:nvPr/>
        </p:nvCxnSpPr>
        <p:spPr>
          <a:xfrm>
            <a:off x="2423160" y="214884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5"/>
          <p:cNvSpPr/>
          <p:nvPr/>
        </p:nvSpPr>
        <p:spPr>
          <a:xfrm>
            <a:off x="2587752" y="2057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2697480" y="1874520"/>
            <a:ext cx="210312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2697480" y="18745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 Encoder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2-layer: 128→64→embed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4846320" y="214884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/>
          <p:nvPr/>
        </p:nvSpPr>
        <p:spPr>
          <a:xfrm>
            <a:off x="5010912" y="2057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120640" y="1874520"/>
            <a:ext cx="192024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5120640" y="18745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Dot-Product Decoder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= σ(z_u · z_v)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5"/>
          <p:cNvCxnSpPr/>
          <p:nvPr/>
        </p:nvCxnSpPr>
        <p:spPr>
          <a:xfrm>
            <a:off x="7086600" y="214884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5"/>
          <p:cNvSpPr/>
          <p:nvPr/>
        </p:nvSpPr>
        <p:spPr>
          <a:xfrm>
            <a:off x="7251192" y="2057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7360920" y="1874520"/>
            <a:ext cx="1371600" cy="54864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7360920" y="18745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BCE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/ No-edge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Two Evaluation Paradigms: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640080" y="31089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Binary Edge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AUC, Average 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"Does an edge exist between u and v?"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Binary yes/no → GCN trained for this (BCE)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AUC = 0.944 (</a:t>
            </a: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Area Under the ROC Curve)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endParaRPr b="1" i="0" sz="11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AP(Average Precision) = 0.948</a:t>
            </a:r>
            <a:endParaRPr b="1" i="0" sz="11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572000" y="3017520"/>
            <a:ext cx="4114800" cy="137160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754880" y="310896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Entity Ranking (head + tail)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MR, MRR, Hits@K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"Rank the correct target among ALL 7,624 nodes"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GCN NOT trained for this → much worse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Hits@10 = 12.82%  ·  MRR = 0.058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Insight: Why Loss Functions Determine What Embeddings Learn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365760" y="822960"/>
            <a:ext cx="8412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548640" y="914400"/>
            <a:ext cx="8046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Binary Cross-Entropy (GCN) vs Margin-Based Ranking (KGE models)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BCE asks: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"Is this pair an edge?" — just needs scores above/below 0.5. Easy: most random pairs are clearly not edges.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Ranking loss asks: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"Can you rank the correct target ABOVE all other candidates?" — requires fine-grained score differences among plausible neighbors.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Result: GCN achieves AUC = 0.944 (great at discrimination) but only Hits@10 = 12.82% (poor at ranking).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TransE/RotatE trained with ranking loss → directly optimized for the harder ranking task.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35_img18.png" id="305" name="Google Shape;3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291840"/>
            <a:ext cx="4114800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images/nb_Presentation_cell36_img19.png" id="306" name="Google Shape;3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291840"/>
            <a:ext cx="438912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Knowledge Graph Embedding Models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TransE  ·  RotatE  ·  DistMult — Dedicated link prediction models with ranking-based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TransE: Translational Embeddings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365760" y="86868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548640" y="9144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Scoring Function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548640" y="123444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f(h, t) = ||h + r − t||₂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Relation r acts as a translation from head to tail.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Low score = triple is likely true.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Loss: MarginRankingLoss (γ=1.0)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Push correct triples' scores below corrupted triples by at least margin γ. All negatives weighted equally.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65760" y="3611880"/>
            <a:ext cx="5029200" cy="123444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548640" y="36576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Georgia"/>
                <a:ea typeface="Georgia"/>
                <a:cs typeface="Georgia"/>
                <a:sym typeface="Georgia"/>
              </a:rPr>
              <a:t>Known Limitations (from lecture)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48640" y="397764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Symmetry: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Forces r → 0, collapsing h and t to same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1-to-N: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Forces all tails to collapse (t₁ = t₂)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N-to-N: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collapse in both directions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Composition, ✓ Antisymmetry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5577840" y="868680"/>
            <a:ext cx="3291840" cy="397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5760720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Impact on Our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5760720" y="1280160"/>
            <a:ext cx="292608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5852160" y="132588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LastFM: Expect FAILURE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100% symmetric edges → r ≈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77% nodes have multiple friends → 1-to-N collapse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Single relation type → zero relational capacity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High clustering → cascading embedding collapse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760720" y="3108960"/>
            <a:ext cx="2926080" cy="1554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5852160" y="315468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Cisco: Expect 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94% asymmetric → no symmetry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2,157 relation types → full multi-relational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Simple geometry generalizes with sparse data (~2.3 triples/relation)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7212750" y="4846325"/>
            <a:ext cx="17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Python library: </a:t>
            </a:r>
            <a:r>
              <a:rPr lang="en-US" sz="9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PyKEEN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RotatE: Rotational Embeddings in Complex Space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365760" y="86868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548640" y="9144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Scoring Function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548650" y="1234450"/>
            <a:ext cx="4846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t = h ∘ r,   |rᵢ| = 1 (unit complex numbers)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onsolas"/>
              <a:buNone/>
            </a:pPr>
            <a:r>
              <a:t/>
            </a:r>
            <a:endParaRPr b="1">
              <a:solidFill>
                <a:srgbClr val="0D1B2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f(h, t) = ||h ∘ r − t||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rᵢ = e^(iθᵢ) — a rotation angle in complex plane.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Relations as rotations, not translations.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Loss: NSSALoss (self-adversarial, γ=6.0, α=1.0)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Weights harder negatives more → focuses training on most informative examples.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365760" y="3611880"/>
            <a:ext cx="5029200" cy="12344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"/>
          <p:cNvSpPr/>
          <p:nvPr/>
        </p:nvSpPr>
        <p:spPr>
          <a:xfrm>
            <a:off x="548640" y="36576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Georgia"/>
                <a:ea typeface="Georgia"/>
                <a:cs typeface="Georgia"/>
                <a:sym typeface="Georgia"/>
              </a:rPr>
              <a:t>Capabilities (solves TransE's limitations)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548640" y="397764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Symmetry: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Rotation by π (rᵢ = −1), applying twice returns to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1-to-N: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Different complex embeddings map correctly under same rotation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Composition: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r₃ = r₁ ∘ r₂ (rotation composition)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 Inversion: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r₂ = r̄₁ (conjugate = inverse rotation)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5577840" y="868680"/>
            <a:ext cx="3291840" cy="397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5760720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NSSA Loss: Self-Adversarial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5760720" y="1280160"/>
            <a:ext cx="2926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Standard negative sampling treats all corrupted triples equally — but some negatives are easy (clearly wrong) and some are hard (plausible).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NSSA uses the model's own scores to weight negatives: harder negatives get higher weight.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RotatE + NSSA?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RotatE's rich complex-space embeddings quickly learn easy negatives. NSSA keeps training challenging by focusing on the negatives the model is most confused about.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TransE + MarginRanking?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TransE is simpler — uniform negative sampling gives stable, predictable gradients. Its limited capacity benefits from diverse negatives.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6549275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Python l</a:t>
            </a:r>
            <a:r>
              <a:rPr lang="en-US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ibrary: </a:t>
            </a:r>
            <a:r>
              <a:rPr lang="en-US" sz="9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PyKEEN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DistMult &amp; Three-Model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365760" y="86868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548640" y="914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DistMult: Bilinear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48640" y="1234440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nsola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f(h,t) = h^T diag(r) t = Σᵢ hᵢ · rᵢ · tᵢ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Inherently symmetric: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f(h,r,t) = f(t,r,h) always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Natural fit for symmetric graphs (LastFM)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Fatal flaw for directed graphs (Cisco)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4572000" y="868680"/>
            <a:ext cx="42976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Model Architecture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20"/>
          <p:cNvGraphicFramePr/>
          <p:nvPr/>
        </p:nvGraphicFramePr>
        <p:xfrm>
          <a:off x="475488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914400"/>
                <a:gridCol w="1097275"/>
                <a:gridCol w="1005850"/>
                <a:gridCol w="914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Scoring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Symmetry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Params/rel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TransE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||h+r−t||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EF4444"/>
                          </a:solidFill>
                        </a:rPr>
                        <a:t>Anti-sym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RotatE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||h∘r−t||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22C55E"/>
                          </a:solidFill>
                        </a:rPr>
                        <a:t>Both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DistMult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h^T diag(r) t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59E0B"/>
                          </a:solidFill>
                        </a:rPr>
                        <a:t>Always sym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20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model breaks on symmetry (TransE), one handles everything (RotatE), one assumes symmetry (DistMult)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50_img21.png" id="369" name="Google Shape;3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3246120"/>
            <a:ext cx="438912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images/nb_Presentation_cell50_img22.png" id="370" name="Google Shape;3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246120"/>
            <a:ext cx="438912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Link Prediction Results: LastFM (Symmetric, 1 Relation)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365760" y="868680"/>
            <a:ext cx="8412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0" name="Google Shape;380;p21"/>
          <p:cNvGraphicFramePr/>
          <p:nvPr/>
        </p:nvGraphicFramePr>
        <p:xfrm>
          <a:off x="54864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188725"/>
                <a:gridCol w="1371600"/>
                <a:gridCol w="1371600"/>
                <a:gridCol w="1371600"/>
                <a:gridCol w="13716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GCN (h+t)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TransE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RotatE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DistMult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449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323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</a:rPr>
                        <a:t>323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402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MRR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0.058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0.073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</a:rPr>
                        <a:t>0.121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0.095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Hits@1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1.74%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</a:rPr>
                        <a:t>0.00%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</a:rPr>
                        <a:t>2.33%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3.40%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Hits@10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12.82%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21.77%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</a:rPr>
                        <a:t>31.77%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21.66%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21"/>
          <p:cNvSpPr/>
          <p:nvPr/>
        </p:nvSpPr>
        <p:spPr>
          <a:xfrm>
            <a:off x="365750" y="3154675"/>
            <a:ext cx="8412600" cy="190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RotatE wins on LastFM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— exactly as theory predicts: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TransE Hits@1 = 0%: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Symmetric edges force r ≈ 0 → all nodes equidistant → can NEVER rank correct target first. Compounds with single-relation bottleneck and cascading embedding collapse.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RotatE MRR 66% higher than TransE: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Models symmetry as rotation by π without collapse. Cross-dimensional expressiveness matters at scale (7,624 entities).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DistMult (MRR=0.095):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Built-in symmetry avoids TransE's collapse but lacks RotatE's cross-dimensional power. Hits@1=3.40% is actually highest — precise top-1 predictions but poor recall.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Link Prediction Results: Cisco (Directed, 2,157 Relations)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365760" y="868680"/>
            <a:ext cx="84124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2" name="Google Shape;392;p22"/>
          <p:cNvGraphicFramePr/>
          <p:nvPr/>
        </p:nvGraphicFramePr>
        <p:xfrm>
          <a:off x="54864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371600"/>
                <a:gridCol w="1828800"/>
                <a:gridCol w="18288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TransE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RotatE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DistMult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MRR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</a:rPr>
                        <a:t>0.848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0.682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</a:rPr>
                        <a:t>0.482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Hits@1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</a:rPr>
                        <a:t>74.5%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48.3%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</a:rPr>
                        <a:t>22.6%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Hits@10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</a:rPr>
                        <a:t>98.2%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96.2%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90.7%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3" name="Google Shape;393;p22"/>
          <p:cNvSpPr/>
          <p:nvPr/>
        </p:nvSpPr>
        <p:spPr>
          <a:xfrm>
            <a:off x="365750" y="2971800"/>
            <a:ext cx="8412600" cy="202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548640" y="301752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TransE dominates Cisco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— opposite ranking from LastFM: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No symmetry problem: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94.2% asymmetric edges → TransE's main weakness is irrelevant.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Parameter efficiency: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TransE has 138K vs RotatE's 276K relation params. With only ~2.3 examples per relation, RotatE overfits.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DistMult's fundamental flaw: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Cannot distinguish (h,r,t) from (t,r,h) on 94% asymmetric edges. Scores contradictory triples identically → training signal diluted.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Simple geometry suffices: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52 entities = small ranking space. Straight-line translations are enough; RotatE's rotational complexity is wasted.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Key Lesson: Dataset Properties Determine the Winner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365760" y="868680"/>
            <a:ext cx="8412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4" name="Google Shape;404;p23"/>
          <p:cNvGraphicFramePr/>
          <p:nvPr/>
        </p:nvGraphicFramePr>
        <p:xfrm>
          <a:off x="54864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2377450"/>
                <a:gridCol w="1828800"/>
                <a:gridCol w="18288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Dataset Property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Favors TransE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Favors RotatE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Favors DistMult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Symmetric edges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Asymmetric/directed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— Neutral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Many relations, sparse data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Simpler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Overfits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Single relation, dense data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Small entity space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</a:rPr>
                        <a:t>✗ No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Large entity space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— Neutral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</a:rPr>
                        <a:t>✓ Yes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— Neutral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23"/>
          <p:cNvSpPr/>
          <p:nvPr/>
        </p:nvSpPr>
        <p:spPr>
          <a:xfrm>
            <a:off x="548640" y="3337560"/>
            <a:ext cx="3657600" cy="64008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LastFM → RotatE wins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Symmetric, single relation, large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572000" y="3337560"/>
            <a:ext cx="4023360" cy="64008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4663440" y="33832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Cisco → TransE wins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Directed, 2157 relations, sparse, small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This is exactly what the lecture's summary table predicts in theory. Our experiments on two real datasets confirm it in practice.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Transfer Learning: KGE → GCN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457200" y="1005840"/>
            <a:ext cx="2286000" cy="50292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457200" y="10058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Train KGE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TransE/RotatE/DistMult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entity ranking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4"/>
          <p:cNvCxnSpPr/>
          <p:nvPr/>
        </p:nvCxnSpPr>
        <p:spPr>
          <a:xfrm>
            <a:off x="1591056" y="150876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4"/>
          <p:cNvSpPr/>
          <p:nvPr/>
        </p:nvSpPr>
        <p:spPr>
          <a:xfrm>
            <a:off x="1463040" y="153619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457200" y="1645920"/>
            <a:ext cx="2286000" cy="50292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457200" y="16459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Extract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(128/256-dim vectors)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24"/>
          <p:cNvCxnSpPr/>
          <p:nvPr/>
        </p:nvCxnSpPr>
        <p:spPr>
          <a:xfrm>
            <a:off x="1591056" y="214884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24"/>
          <p:cNvSpPr/>
          <p:nvPr/>
        </p:nvSpPr>
        <p:spPr>
          <a:xfrm>
            <a:off x="1463040" y="217627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65760" y="2286000"/>
            <a:ext cx="1097280" cy="457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365760" y="2286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KGE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1645920" y="2286000"/>
            <a:ext cx="1371600" cy="4572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164592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B: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+ KGE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(concatenate)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57200" y="2880360"/>
            <a:ext cx="2286000" cy="41148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457200" y="28803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GCN with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KGE input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4"/>
          <p:cNvCxnSpPr/>
          <p:nvPr/>
        </p:nvCxnSpPr>
        <p:spPr>
          <a:xfrm>
            <a:off x="1591056" y="329184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4"/>
          <p:cNvSpPr/>
          <p:nvPr/>
        </p:nvSpPr>
        <p:spPr>
          <a:xfrm>
            <a:off x="1463040" y="331927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Community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3200400" y="1005840"/>
            <a:ext cx="5486400" cy="182880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3383280" y="1051560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transfer learning works here: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1. KGE training is unsupervised — only needs graph edges, not labels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2. KGE captures relational structure (who connects to whom via which relation)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3. GCN adds neighborhood aggregation + non-linear transformation on 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4. Concatenation combines content features (SVD/port) with structural features (KGE)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KGE encodes local relational patterns → GCN adds global neighborhood context.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This combination is more informative than either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ages/nb_Presentation_cell55_img23.png" id="439" name="Google Shape;4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880345"/>
            <a:ext cx="5486399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Transfer Learning Results: Classification &amp; Community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LastFM Node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9" name="Google Shape;449;p25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2377450"/>
                <a:gridCol w="15544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Variant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(SVD)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89.4%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(TransE)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85.9%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(RotatE)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86.8%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(DistMult)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86.0%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(SVD+TransE)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89.9%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(SVD+RotatE)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89.1%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GCN (SVD+DistMult)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90.0%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0" name="Google Shape;450;p25"/>
          <p:cNvSpPr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Cisco (avg over 5 seeds)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1" name="Google Shape;451;p25"/>
          <p:cNvGraphicFramePr/>
          <p:nvPr/>
        </p:nvGraphicFramePr>
        <p:xfrm>
          <a:off x="475488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2286000"/>
                <a:gridCol w="182880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Variant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(port)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20.0% ± 17.8%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(TransE)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8.9% ± 13.0%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(RotatE)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20.0% ± 20.4%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(DistMult)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11.1% ± 7.0%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GCN (port+TransE)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5CF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8B5CF6"/>
                          </a:solidFill>
                        </a:rPr>
                        <a:t>37.8% ± 11.3%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(port+RotatE)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22.2% ± 14.1%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(port+DistMult)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11.1% ± 9.9%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2" name="Google Shape;452;p25"/>
          <p:cNvSpPr/>
          <p:nvPr/>
        </p:nvSpPr>
        <p:spPr>
          <a:xfrm>
            <a:off x="365760" y="3246120"/>
            <a:ext cx="84124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548640" y="3291840"/>
            <a:ext cx="80467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KGE-only features (85.9–86.8%):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Graph structure alone carries substantial class-relevant signal — close to SVD baseline.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SVD+DistMult (90.0%) best on LastFM: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DistMult's symmetric embeddings complement content features. Modest gain since SVD already captures social homophily.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Port+TransE (37.8%) best on Cisco: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Nearly doubles port-only baseline. TransE's strong relational embeddings (MRR=0.848) transfer well.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Community Detection: GCN(SVD+RotatE) achieves best NMI (0.680) across ALL methods.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0" y="54864"/>
            <a:ext cx="9144000" cy="64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640080" y="54864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Comprehensive Comparison: All Methods on LastFM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274320" y="822960"/>
            <a:ext cx="8595300" cy="4023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63" name="Google Shape;463;p26"/>
          <p:cNvGraphicFramePr/>
          <p:nvPr/>
        </p:nvGraphicFramePr>
        <p:xfrm>
          <a:off x="1280188" y="1024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828800"/>
                <a:gridCol w="1097275"/>
                <a:gridCol w="914400"/>
                <a:gridCol w="914400"/>
                <a:gridCol w="914400"/>
                <a:gridCol w="9144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Type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Mod.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NMI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ARI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AMI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Louvain (Part 1)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Classical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0.815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0.622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0.535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0.611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Spectral (k=18)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Spectral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0.799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0.659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0.671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0.656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Node2Vec DFS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Shallow Emb.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0.804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0.635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0.541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0.624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(Node Classif.)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GNN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0.449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0.589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0.366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0.588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GCN (Link Pred.)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GNN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0.674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0.477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0.256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0.486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GCN (SVD+RotatE)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D9488"/>
                          </a:solidFill>
                        </a:rPr>
                        <a:t>GNN+KGE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0.713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0.680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0.595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0.677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4" name="Google Shape;464;p26"/>
          <p:cNvSpPr/>
          <p:nvPr/>
        </p:nvSpPr>
        <p:spPr>
          <a:xfrm>
            <a:off x="457200" y="3291840"/>
            <a:ext cx="8046600" cy="594300"/>
          </a:xfrm>
          <a:prstGeom prst="rect">
            <a:avLst/>
          </a:prstGeom>
          <a:solidFill>
            <a:srgbClr val="F0FDFA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40080" y="333756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Louvain leads on modularity (0.815). </a:t>
            </a: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GCN(SVD+RotatE) achieves the highest NMI (0.680)</a:t>
            </a: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— surpassing spectral clustering (0.659) and all other methods. Transfer learning from KGE captures community structure best.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Comprehensive Comparison: All Methods on LastFM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nb_Presentation_cell63_img24.png" id="475" name="Google Shape;4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66764"/>
            <a:ext cx="8229600" cy="333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8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365760" y="86868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457200" y="9601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868680" y="96012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Modularity ≠ ground truth 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502920" y="128016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Louvain wins modularity but spectral better recovers true communities (NMI 0.659 vs 0.622). On Cisco, spectral achieves NMI=0.863 with low modularity.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4617720" y="86868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4709160" y="9601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4709160" y="960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5120640" y="96012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AUC ≠ ranking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4754880" y="128016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GCN gets AUC=0.944 but Hits@10=12.82%. Ranking metrics (MRR, Hits@K) reveal true link prediction quality.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365760" y="210312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868680" y="219456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Simpler can be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502920" y="251460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community detection, Louvain beats most complex methods. For Cisco link prediction, TransE (MRR=0.848) beats RotatE (0.682).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4617720" y="210312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>
            <a:off x="4709160" y="21945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8"/>
          <p:cNvSpPr/>
          <p:nvPr/>
        </p:nvSpPr>
        <p:spPr>
          <a:xfrm>
            <a:off x="4709160" y="2194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5120640" y="219456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No universal winner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4754880" y="251460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RotatE wins on symmetric data (LastFM), TransE wins on directed/sparse (Cisco), DistMult collapses on asymmetric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365760" y="333756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868680" y="34290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Loss function shapes 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502920" y="374904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Margin-based ranking loss → good at entity ranking. BCE → good at binary classification. The loss matters as much as architecture.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4617720" y="3337560"/>
            <a:ext cx="3977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8"/>
          <p:cNvSpPr/>
          <p:nvPr/>
        </p:nvSpPr>
        <p:spPr>
          <a:xfrm>
            <a:off x="4709160" y="342900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4709160" y="34290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5120640" y="34290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KGE embeddings transfer to GCN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4754880" y="374904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Concatenation improves both datasets. GCN(SVD+RotatE) achieves best community NMI (0.680) across all methods.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640080" y="5486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 Selection Guide: Matching Models to Data Properties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3" name="Google Shape;523;p29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097275"/>
                <a:gridCol w="3200400"/>
                <a:gridCol w="32004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Weakness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Louvain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Maximizing modularity, dense subgraphs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Doesn't align well with ground truth labels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Spectral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Recovering ground truth (NMI=0.659)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Requires choosing k, no learned embeddings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Node2Vec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General-purpose embeddings (Mod=0.804)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Slightly worse than Louvain at communities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GCN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Classification (89.4%), binary LP (AUC=0.944)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Poor at ranking (Hits@10=12.82%)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9488"/>
                          </a:solidFill>
                        </a:rPr>
                        <a:t>GCN+KGE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Community detection (NMI=0.680), combined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Requires KGE pre-training step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TransE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Directed, multi-relational, sparse (MRR=0.848)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Cannot handle symmetry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RotatE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Symmetric/mixed graphs (MRR=0.121)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Overfits with sparse per-relation data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</a:rPr>
                        <a:t>DistMult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Symmetric bilinear patterns (MRR=0.095)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</a:rPr>
                        <a:t>Cannot model directionality at all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4" name="Google Shape;524;p2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Cross-dataset validation is essential. Testing on only one dataset would produce misleading conclusions about model rankings.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640080" y="105156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/>
          <p:nvPr/>
        </p:nvSpPr>
        <p:spPr>
          <a:xfrm>
            <a:off x="640080" y="105156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1005840" y="100584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Georgia"/>
                <a:ea typeface="Georgia"/>
                <a:cs typeface="Georgia"/>
                <a:sym typeface="Georgia"/>
              </a:rPr>
              <a:t>GCN(SVD+RotatE) achieves best community NMI (0.680)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1005840" y="1325880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Surpasses spectral clustering (0.659) and Louvain (0.622) by combining content + structural features through transfer learning from KGE.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640080" y="20574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640080" y="2057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005840" y="201168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Georgia"/>
                <a:ea typeface="Georgia"/>
                <a:cs typeface="Georgia"/>
                <a:sym typeface="Georgia"/>
              </a:rPr>
              <a:t>KGE models with ranking loss outperform GCN for link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1005840" y="2331720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RotatE Hits@10=31.8% vs GCN 12.82% — the loss function determines what embeddings optimize for.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80" y="30632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1005840" y="301752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Georgia"/>
                <a:ea typeface="Georgia"/>
                <a:cs typeface="Georgia"/>
                <a:sym typeface="Georgia"/>
              </a:rPr>
              <a:t>Dataset properties determine model rankings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1005840" y="3337560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RotatE wins on symmetric LastFM, TransE wins on directed Cisco, DistMult collapses on asymmetric data. No universal winner.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640080" y="406908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640080" y="406908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1005840" y="402336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Georgia"/>
                <a:ea typeface="Georgia"/>
                <a:cs typeface="Georgia"/>
                <a:sym typeface="Georgia"/>
              </a:rPr>
              <a:t>Transfer learning from KGE to GCN is effective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1005840" y="4343400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Unsupervised KGE embeddings provide complementary structural signal. Concatenation improves both classification and community detection.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1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github.com/NimakamaliLassem/Massive-Graph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640080" y="301752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TransE: Bordes et al. (2013) NeurIPS  ·  RotatE: Sun et al. (2019) ICLR  ·  DistMult: Yang et al. (2015) ICLR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GCN: Kipf &amp; Welling (2017) ICLR  ·  Node2Vec: Grover &amp; Leskovec (2016) KDD  ·  Spectral: Von Luxburg (2007)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LastFM Dataset: Rozemberczki &amp; Sarkar (2020) CIKM  ·  PyKEEN: Ali et al. (2021) JMLR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Louvain: Blondel et al. (2008)  ·  Word2Vec: Mikolov et al. (2013) NeurIPS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2"/>
          <p:cNvSpPr/>
          <p:nvPr/>
        </p:nvSpPr>
        <p:spPr>
          <a:xfrm>
            <a:off x="515255" y="220605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lang="en-US" sz="5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Appendix 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640080" y="228600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3"/>
          <p:cNvSpPr txBox="1"/>
          <p:nvPr/>
        </p:nvSpPr>
        <p:spPr>
          <a:xfrm>
            <a:off x="118250" y="157650"/>
            <a:ext cx="4992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Node2Vec - Parameters </a:t>
            </a:r>
            <a:endParaRPr sz="2100"/>
          </a:p>
        </p:txBody>
      </p:sp>
      <p:pic>
        <p:nvPicPr>
          <p:cNvPr id="573" name="Google Shape;5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400" y="1617350"/>
            <a:ext cx="4263973" cy="2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75" y="1617350"/>
            <a:ext cx="4012699" cy="237577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3"/>
          <p:cNvSpPr txBox="1"/>
          <p:nvPr/>
        </p:nvSpPr>
        <p:spPr>
          <a:xfrm>
            <a:off x="663475" y="1011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LastFM</a:t>
            </a:r>
            <a:endParaRPr/>
          </a:p>
        </p:txBody>
      </p:sp>
      <p:sp>
        <p:nvSpPr>
          <p:cNvPr id="576" name="Google Shape;576;p33"/>
          <p:cNvSpPr txBox="1"/>
          <p:nvPr/>
        </p:nvSpPr>
        <p:spPr>
          <a:xfrm>
            <a:off x="4901750" y="1011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4"/>
          <p:cNvSpPr txBox="1"/>
          <p:nvPr/>
        </p:nvSpPr>
        <p:spPr>
          <a:xfrm>
            <a:off x="118250" y="157650"/>
            <a:ext cx="4440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GCN - Cisco pipeline configuration</a:t>
            </a:r>
            <a:endParaRPr sz="2100"/>
          </a:p>
        </p:txBody>
      </p:sp>
      <p:sp>
        <p:nvSpPr>
          <p:cNvPr id="583" name="Google Shape;583;p34"/>
          <p:cNvSpPr/>
          <p:nvPr/>
        </p:nvSpPr>
        <p:spPr>
          <a:xfrm>
            <a:off x="1887670" y="835830"/>
            <a:ext cx="3566100" cy="3977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4"/>
          <p:cNvSpPr/>
          <p:nvPr/>
        </p:nvSpPr>
        <p:spPr>
          <a:xfrm>
            <a:off x="2070550" y="88155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t/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Node Classification Pipeline</a:t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t/>
            </a:r>
            <a:endParaRPr b="1"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2253430" y="1247310"/>
            <a:ext cx="2834700" cy="347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4"/>
          <p:cNvSpPr/>
          <p:nvPr/>
        </p:nvSpPr>
        <p:spPr>
          <a:xfrm>
            <a:off x="2253430" y="1247310"/>
            <a:ext cx="283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Features (128-dim SVD)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34"/>
          <p:cNvCxnSpPr/>
          <p:nvPr/>
        </p:nvCxnSpPr>
        <p:spPr>
          <a:xfrm>
            <a:off x="3661606" y="1594782"/>
            <a:ext cx="0" cy="1371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34"/>
          <p:cNvSpPr/>
          <p:nvPr/>
        </p:nvSpPr>
        <p:spPr>
          <a:xfrm>
            <a:off x="3533590" y="1622214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2253430" y="1731942"/>
            <a:ext cx="2834700" cy="347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2253430" y="1731942"/>
            <a:ext cx="283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Normalized Adjacency 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3661606" y="2079414"/>
            <a:ext cx="0" cy="1371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34"/>
          <p:cNvSpPr/>
          <p:nvPr/>
        </p:nvSpPr>
        <p:spPr>
          <a:xfrm>
            <a:off x="3533590" y="2106846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2253430" y="2216574"/>
            <a:ext cx="2834700" cy="3933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4"/>
          <p:cNvSpPr/>
          <p:nvPr/>
        </p:nvSpPr>
        <p:spPr>
          <a:xfrm>
            <a:off x="2253430" y="2216574"/>
            <a:ext cx="2834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 Layer 1: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34"/>
          <p:cNvCxnSpPr/>
          <p:nvPr/>
        </p:nvCxnSpPr>
        <p:spPr>
          <a:xfrm>
            <a:off x="3661606" y="2609766"/>
            <a:ext cx="0" cy="1371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34"/>
          <p:cNvSpPr/>
          <p:nvPr/>
        </p:nvSpPr>
        <p:spPr>
          <a:xfrm>
            <a:off x="3533590" y="2637198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2253430" y="2746926"/>
            <a:ext cx="2834700" cy="3933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4"/>
          <p:cNvSpPr/>
          <p:nvPr/>
        </p:nvSpPr>
        <p:spPr>
          <a:xfrm>
            <a:off x="2253430" y="2746926"/>
            <a:ext cx="2834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 Layer 2: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34"/>
          <p:cNvCxnSpPr/>
          <p:nvPr/>
        </p:nvCxnSpPr>
        <p:spPr>
          <a:xfrm>
            <a:off x="3661606" y="3140118"/>
            <a:ext cx="0" cy="1371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34"/>
          <p:cNvSpPr/>
          <p:nvPr/>
        </p:nvSpPr>
        <p:spPr>
          <a:xfrm>
            <a:off x="3533590" y="3167550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2253430" y="3277278"/>
            <a:ext cx="2834700" cy="347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2253430" y="3277278"/>
            <a:ext cx="283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 → Cross-Entropy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34"/>
          <p:cNvCxnSpPr/>
          <p:nvPr/>
        </p:nvCxnSpPr>
        <p:spPr>
          <a:xfrm>
            <a:off x="3661606" y="3624750"/>
            <a:ext cx="0" cy="1371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34"/>
          <p:cNvSpPr/>
          <p:nvPr/>
        </p:nvSpPr>
        <p:spPr>
          <a:xfrm>
            <a:off x="3533590" y="3652182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2253430" y="3761910"/>
            <a:ext cx="2834700" cy="3474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2253430" y="3761910"/>
            <a:ext cx="283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Country Prediction (18 labels)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9784"/>
            <a:ext cx="8839200" cy="3409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8125"/>
            <a:ext cx="8839198" cy="39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7"/>
          <p:cNvSpPr/>
          <p:nvPr/>
        </p:nvSpPr>
        <p:spPr>
          <a:xfrm>
            <a:off x="0" y="54864"/>
            <a:ext cx="9144000" cy="64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7"/>
          <p:cNvSpPr/>
          <p:nvPr/>
        </p:nvSpPr>
        <p:spPr>
          <a:xfrm>
            <a:off x="640080" y="54864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Node2Vec: Biased Random Walks → Shallow Embeddings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7"/>
          <p:cNvSpPr/>
          <p:nvPr/>
        </p:nvSpPr>
        <p:spPr>
          <a:xfrm>
            <a:off x="365760" y="868680"/>
            <a:ext cx="29262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7"/>
          <p:cNvSpPr/>
          <p:nvPr/>
        </p:nvSpPr>
        <p:spPr>
          <a:xfrm>
            <a:off x="548640" y="91440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640080" y="1234440"/>
            <a:ext cx="2377500" cy="384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7"/>
          <p:cNvSpPr/>
          <p:nvPr/>
        </p:nvSpPr>
        <p:spPr>
          <a:xfrm>
            <a:off x="640080" y="123444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37"/>
          <p:cNvCxnSpPr/>
          <p:nvPr/>
        </p:nvCxnSpPr>
        <p:spPr>
          <a:xfrm>
            <a:off x="1819656" y="1618488"/>
            <a:ext cx="0" cy="146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37"/>
          <p:cNvSpPr/>
          <p:nvPr/>
        </p:nvSpPr>
        <p:spPr>
          <a:xfrm>
            <a:off x="1691640" y="1655064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7"/>
          <p:cNvSpPr/>
          <p:nvPr/>
        </p:nvSpPr>
        <p:spPr>
          <a:xfrm>
            <a:off x="640080" y="1764792"/>
            <a:ext cx="2377500" cy="502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7"/>
          <p:cNvSpPr/>
          <p:nvPr/>
        </p:nvSpPr>
        <p:spPr>
          <a:xfrm>
            <a:off x="640080" y="176479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Biased Random Walks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p, q control BFS vs DFS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37"/>
          <p:cNvCxnSpPr/>
          <p:nvPr/>
        </p:nvCxnSpPr>
        <p:spPr>
          <a:xfrm>
            <a:off x="1819656" y="2267712"/>
            <a:ext cx="0" cy="155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7"/>
          <p:cNvSpPr/>
          <p:nvPr/>
        </p:nvSpPr>
        <p:spPr>
          <a:xfrm>
            <a:off x="1691640" y="2313432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7"/>
          <p:cNvSpPr/>
          <p:nvPr/>
        </p:nvSpPr>
        <p:spPr>
          <a:xfrm>
            <a:off x="640080" y="2423160"/>
            <a:ext cx="2377500" cy="384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7"/>
          <p:cNvSpPr/>
          <p:nvPr/>
        </p:nvSpPr>
        <p:spPr>
          <a:xfrm>
            <a:off x="640080" y="242316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Word2Vec (Skip-gram)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37"/>
          <p:cNvCxnSpPr/>
          <p:nvPr/>
        </p:nvCxnSpPr>
        <p:spPr>
          <a:xfrm>
            <a:off x="1819656" y="2807208"/>
            <a:ext cx="0" cy="146400"/>
          </a:xfrm>
          <a:prstGeom prst="straightConnector1">
            <a:avLst/>
          </a:prstGeom>
          <a:noFill/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37"/>
          <p:cNvSpPr/>
          <p:nvPr/>
        </p:nvSpPr>
        <p:spPr>
          <a:xfrm>
            <a:off x="1691640" y="2843784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7"/>
          <p:cNvSpPr/>
          <p:nvPr/>
        </p:nvSpPr>
        <p:spPr>
          <a:xfrm>
            <a:off x="640080" y="2953512"/>
            <a:ext cx="2377500" cy="5028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7"/>
          <p:cNvSpPr/>
          <p:nvPr/>
        </p:nvSpPr>
        <p:spPr>
          <a:xfrm>
            <a:off x="640080" y="295351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K-Means → Communities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457200" y="3657600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BFS (p=1, q=2):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local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DFS (p=2, q=0.5):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global homophily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3566160" y="868680"/>
            <a:ext cx="53034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7"/>
          <p:cNvSpPr/>
          <p:nvPr/>
        </p:nvSpPr>
        <p:spPr>
          <a:xfrm>
            <a:off x="3749040" y="91440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Cisco</a:t>
            </a:r>
            <a:r>
              <a:rPr b="1" i="0" lang="en-US" sz="13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6" name="Google Shape;646;p37"/>
          <p:cNvGraphicFramePr/>
          <p:nvPr/>
        </p:nvGraphicFramePr>
        <p:xfrm>
          <a:off x="37490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{B009CA66-602B-4E25-AE07-A997CAF519F7}</a:tableStyleId>
              </a:tblPr>
              <a:tblGrid>
                <a:gridCol w="1463050"/>
                <a:gridCol w="914400"/>
                <a:gridCol w="914400"/>
                <a:gridCol w="914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Config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NMI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ARI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BFS (p=1, q=2)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lang="en-US" sz="1000"/>
                        <a:t>0415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b="1" lang="en-US" sz="1000"/>
                        <a:t>8851</a:t>
                      </a:r>
                      <a:endParaRPr b="1"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b="1" lang="en-US" sz="1000"/>
                        <a:t>5056</a:t>
                      </a:r>
                      <a:endParaRPr b="1"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DFS (p=2, q=0.5)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</a:rPr>
                        <a:t>0.</a:t>
                      </a:r>
                      <a:r>
                        <a:rPr b="1" lang="en-US" sz="1000">
                          <a:solidFill>
                            <a:srgbClr val="0D9488"/>
                          </a:solidFill>
                        </a:rPr>
                        <a:t>1828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lang="en-US" sz="1000"/>
                        <a:t>8196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lang="en-US" sz="1000"/>
                        <a:t>4236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7" name="Google Shape;647;p37"/>
          <p:cNvSpPr/>
          <p:nvPr/>
        </p:nvSpPr>
        <p:spPr>
          <a:xfrm>
            <a:off x="3749040" y="201168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DFS &gt; BFS: global structure captures more community signal. Neither beats Louvain on modularity or spectral on NMI. Cisco: poor (too dense for random walks).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7"/>
          <p:cNvSpPr txBox="1"/>
          <p:nvPr/>
        </p:nvSpPr>
        <p:spPr>
          <a:xfrm>
            <a:off x="365750" y="4330300"/>
            <a:ext cx="29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</a:rPr>
              <a:t>t‑SNE stands for </a:t>
            </a:r>
            <a:r>
              <a:rPr b="1" lang="en-US" sz="800">
                <a:solidFill>
                  <a:srgbClr val="64748B"/>
                </a:solidFill>
              </a:rPr>
              <a:t>t</a:t>
            </a:r>
            <a:r>
              <a:rPr lang="en-US" sz="800">
                <a:solidFill>
                  <a:srgbClr val="64748B"/>
                </a:solidFill>
              </a:rPr>
              <a:t>‑distributed Stochastic Neighbor Embedding, a nonlinear dimensionality reduction method mainly used for visualization, not for downstream modeling.</a:t>
            </a:r>
            <a:endParaRPr sz="1100">
              <a:solidFill>
                <a:srgbClr val="64748B"/>
              </a:solidFill>
            </a:endParaRPr>
          </a:p>
        </p:txBody>
      </p:sp>
      <p:pic>
        <p:nvPicPr>
          <p:cNvPr id="649" name="Google Shape;6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360" y="2484180"/>
            <a:ext cx="5547240" cy="2195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88" y="515325"/>
            <a:ext cx="8103726" cy="29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8"/>
          <p:cNvSpPr txBox="1"/>
          <p:nvPr/>
        </p:nvSpPr>
        <p:spPr>
          <a:xfrm>
            <a:off x="1661000" y="83750"/>
            <a:ext cx="5597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LastFM</a:t>
            </a:r>
            <a:endParaRPr/>
          </a:p>
        </p:txBody>
      </p:sp>
      <p:pic>
        <p:nvPicPr>
          <p:cNvPr id="657" name="Google Shape;6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9813" y="3637200"/>
            <a:ext cx="4559495" cy="13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9"/>
          <p:cNvSpPr txBox="1"/>
          <p:nvPr/>
        </p:nvSpPr>
        <p:spPr>
          <a:xfrm>
            <a:off x="3072000" y="188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Cisco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4" name="Google Shape;6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675" y="1487775"/>
            <a:ext cx="44291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